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84"/>
          </a:solidFill>
          <a:ln>
            <a:solidFill>
              <a:srgbClr val="1A2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3152"/>
            <a:ext cx="8046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Project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11089"/>
            <a:ext cx="896112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DAE2FF"/>
                </a:solidFill>
                <a:latin typeface="Aptos"/>
              </a:rPr>
              <a:t>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Platform </a:t>
            </a:r>
            <a:r>
              <a:rPr lang="en-US" sz="950" dirty="0">
                <a:solidFill>
                  <a:srgbClr val="DAE2FF"/>
                </a:solidFill>
                <a:latin typeface="Aptos"/>
              </a:rPr>
              <a:t>S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tabili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zation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,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E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xecution and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N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ew </a:t>
            </a:r>
            <a:r>
              <a:rPr lang="en-US" sz="950" dirty="0">
                <a:solidFill>
                  <a:srgbClr val="DAE2FF"/>
                </a:solidFill>
                <a:latin typeface="Aptos"/>
              </a:rPr>
              <a:t>P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latform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Initiatives</a:t>
            </a:r>
            <a:endParaRPr sz="950" b="0" dirty="0">
              <a:solidFill>
                <a:srgbClr val="DAE2FF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87000" y="155448"/>
            <a:ext cx="1325880" cy="310896"/>
          </a:xfrm>
          <a:prstGeom prst="roundRect">
            <a:avLst/>
          </a:prstGeom>
          <a:solidFill>
            <a:srgbClr val="2D48BE"/>
          </a:solidFill>
          <a:ln w="12700">
            <a:solidFill>
              <a:srgbClr val="2D4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000" y="155448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960120"/>
            <a:ext cx="5486400" cy="2331720"/>
          </a:xfrm>
          <a:prstGeom prst="roundRect">
            <a:avLst/>
          </a:prstGeom>
          <a:solidFill>
            <a:srgbClr val="EBF0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69848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D48BE"/>
                </a:solidFill>
                <a:latin typeface="Aptos"/>
              </a:rPr>
              <a:t>2G SYSTEM 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60120"/>
            <a:ext cx="5486400" cy="2331720"/>
          </a:xfrm>
          <a:prstGeom prst="roundRect">
            <a:avLst/>
          </a:prstGeom>
          <a:solidFill>
            <a:srgbClr val="EDF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069848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E8F5B"/>
                </a:solidFill>
                <a:latin typeface="Aptos"/>
              </a:rPr>
              <a:t>CORE SYSTEM SW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56432"/>
            <a:ext cx="5486400" cy="2670048"/>
          </a:xfrm>
          <a:prstGeom prst="roundRect">
            <a:avLst/>
          </a:prstGeom>
          <a:solidFill>
            <a:srgbClr val="FCF3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A7E2D"/>
                </a:solidFill>
                <a:latin typeface="Aptos"/>
              </a:rPr>
              <a:t>SMALLCELL SYSTEM 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456432"/>
            <a:ext cx="5486400" cy="2670048"/>
          </a:xfrm>
          <a:prstGeom prst="roundRect">
            <a:avLst/>
          </a:prstGeom>
          <a:solidFill>
            <a:srgbClr val="E9F7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3566160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97B5"/>
                </a:solidFill>
                <a:latin typeface="Aptos"/>
              </a:rPr>
              <a:t>ACCESS SYSTEM SW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1221256"/>
            <a:ext cx="3200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A2D84"/>
                </a:solidFill>
                <a:latin typeface="Aptos"/>
              </a:rPr>
              <a:t>BSC S</a:t>
            </a:r>
            <a:r>
              <a:rPr lang="en-US" sz="1600" b="1" dirty="0">
                <a:solidFill>
                  <a:srgbClr val="1A2D84"/>
                </a:solidFill>
                <a:latin typeface="Aptos"/>
              </a:rPr>
              <a:t>tability</a:t>
            </a:r>
            <a:r>
              <a:rPr sz="1600" b="1" dirty="0">
                <a:solidFill>
                  <a:srgbClr val="1A2D84"/>
                </a:solidFill>
                <a:latin typeface="Aptos"/>
              </a:rPr>
              <a:t> B</a:t>
            </a:r>
            <a:r>
              <a:rPr lang="en-US" sz="1600" b="1" dirty="0">
                <a:solidFill>
                  <a:srgbClr val="1A2D84"/>
                </a:solidFill>
                <a:latin typeface="Aptos"/>
              </a:rPr>
              <a:t>reakthrough</a:t>
            </a:r>
            <a:endParaRPr sz="1600" b="1" dirty="0">
              <a:solidFill>
                <a:srgbClr val="1A2D8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2079868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1E2330"/>
                </a:solidFill>
                <a:latin typeface="Aptos"/>
              </a:rPr>
              <a:t>Blocking socket call → non-blocking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273526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A6273"/>
                </a:solidFill>
                <a:latin typeface="Aptos"/>
              </a:rPr>
              <a:t>Intermittent BSC–BTS connectivity outages addressed; overall 2G package stability improved for Vi.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7972" y="1598245"/>
            <a:ext cx="141732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22" y="1613967"/>
            <a:ext cx="540477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2E8F5B"/>
                </a:solidFill>
                <a:latin typeface="Aptos"/>
              </a:rPr>
              <a:t>25B 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022" y="1829411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1E2330"/>
                </a:solidFill>
                <a:latin typeface="Aptos"/>
              </a:rPr>
              <a:t>Stabilized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8172" y="1598245"/>
            <a:ext cx="141732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31324" y="1643965"/>
            <a:ext cx="4572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2D48BE"/>
                </a:solidFill>
                <a:latin typeface="Aptos"/>
              </a:rPr>
              <a:t>26A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1324" y="1777835"/>
            <a:ext cx="1261872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1E2330"/>
                </a:solidFill>
                <a:latin typeface="Aptos"/>
              </a:rPr>
              <a:t>UTD </a:t>
            </a:r>
            <a:r>
              <a:rPr lang="en-US" sz="750" b="1" dirty="0">
                <a:solidFill>
                  <a:srgbClr val="1E2330"/>
                </a:solidFill>
                <a:latin typeface="Aptos"/>
              </a:rPr>
              <a:t>,</a:t>
            </a:r>
            <a:r>
              <a:rPr sz="750" b="1" dirty="0">
                <a:solidFill>
                  <a:srgbClr val="1E2330"/>
                </a:solidFill>
                <a:latin typeface="Aptos"/>
              </a:rPr>
              <a:t>VOS 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8372" y="1598245"/>
            <a:ext cx="1417320" cy="457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31524" y="1643965"/>
            <a:ext cx="4572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A7E2D"/>
                </a:solidFill>
                <a:latin typeface="Aptos"/>
              </a:rPr>
              <a:t>26B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1524" y="1720127"/>
            <a:ext cx="1261872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1E2330"/>
                </a:solidFill>
                <a:latin typeface="Aptos"/>
              </a:rPr>
              <a:t>Dev complete</a:t>
            </a:r>
            <a:r>
              <a:rPr lang="en-US" sz="750" b="1" dirty="0">
                <a:solidFill>
                  <a:srgbClr val="1E2330"/>
                </a:solidFill>
                <a:latin typeface="Aptos"/>
              </a:rPr>
              <a:t>d</a:t>
            </a:r>
            <a:r>
              <a:rPr sz="750" b="1" dirty="0">
                <a:solidFill>
                  <a:srgbClr val="1E2330"/>
                </a:solidFill>
                <a:latin typeface="Aptos"/>
              </a:rPr>
              <a:t> • stabilization</a:t>
            </a:r>
            <a:r>
              <a:rPr lang="en-US" sz="750" b="1" dirty="0">
                <a:solidFill>
                  <a:srgbClr val="1E2330"/>
                </a:solidFill>
                <a:latin typeface="Aptos"/>
              </a:rPr>
              <a:t> underway</a:t>
            </a:r>
            <a:endParaRPr sz="750" b="1" dirty="0">
              <a:solidFill>
                <a:srgbClr val="1E233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5080" y="1319746"/>
            <a:ext cx="13716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E8F5B"/>
                </a:solidFill>
                <a:latin typeface="Aptos"/>
              </a:rPr>
              <a:t>P</a:t>
            </a:r>
            <a:r>
              <a:rPr lang="en-US" sz="1500" b="1" dirty="0">
                <a:solidFill>
                  <a:srgbClr val="2E8F5B"/>
                </a:solidFill>
                <a:latin typeface="Aptos"/>
              </a:rPr>
              <a:t>an</a:t>
            </a:r>
            <a:r>
              <a:rPr sz="1500" b="1" dirty="0">
                <a:solidFill>
                  <a:srgbClr val="2E8F5B"/>
                </a:solidFill>
                <a:latin typeface="Aptos"/>
              </a:rPr>
              <a:t>-INDIA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134416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1E2330"/>
                </a:solidFill>
                <a:latin typeface="Aptos"/>
              </a:rPr>
              <a:t>SVR25B rollout &amp; stabilization 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0928" y="2435890"/>
            <a:ext cx="12344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0655" y="2509042"/>
            <a:ext cx="1014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2E8F5B"/>
                </a:solidFill>
                <a:latin typeface="Aptos"/>
              </a:rPr>
              <a:t>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829082"/>
            <a:ext cx="101498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DAY TAT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764423"/>
            <a:ext cx="3246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E2330"/>
                </a:solidFill>
                <a:latin typeface="Aptos"/>
              </a:rPr>
              <a:t>SVR26B development in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167128"/>
            <a:ext cx="3246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E2330"/>
                </a:solidFill>
                <a:latin typeface="Aptos"/>
              </a:rPr>
              <a:t>5G redundancy module ownership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2162890"/>
            <a:ext cx="1252728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2E8F5B"/>
                </a:solidFill>
                <a:latin typeface="Aptos"/>
              </a:rPr>
              <a:t>Largely stabilized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4012" y="2532888"/>
            <a:ext cx="3063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dirty="0">
                <a:solidFill>
                  <a:srgbClr val="5A6273"/>
                </a:solidFill>
                <a:latin typeface="Aptos"/>
              </a:rPr>
              <a:t>Field issues resolved within turnaround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822191"/>
            <a:ext cx="4846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A7E2D"/>
                </a:solidFill>
                <a:latin typeface="Aptos"/>
              </a:rPr>
              <a:t>5G CORE SECURITY &amp; PLATFORM MODERNIZATION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224528"/>
            <a:ext cx="1371600" cy="685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4297680"/>
            <a:ext cx="12252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2330"/>
                </a:solidFill>
                <a:latin typeface="Aptos"/>
              </a:rPr>
              <a:t>PKI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4544568"/>
            <a:ext cx="12252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5A6273"/>
                </a:solidFill>
                <a:latin typeface="Aptos"/>
              </a:rPr>
              <a:t>5G Core integration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224528"/>
            <a:ext cx="1371600" cy="685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59152" y="4297680"/>
            <a:ext cx="12252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2330"/>
                </a:solidFill>
                <a:latin typeface="Aptos"/>
              </a:rPr>
              <a:t>IPsec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59152" y="4544568"/>
            <a:ext cx="12252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5A6273"/>
                </a:solidFill>
                <a:latin typeface="Aptos"/>
              </a:rPr>
              <a:t>Active development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22191" y="4224528"/>
            <a:ext cx="1371600" cy="6858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95344" y="4297680"/>
            <a:ext cx="12252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2330"/>
                </a:solidFill>
                <a:latin typeface="Aptos"/>
              </a:rPr>
              <a:t>strongSwan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5344" y="4544568"/>
            <a:ext cx="12252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5A6273"/>
                </a:solidFill>
                <a:latin typeface="Aptos"/>
              </a:rPr>
              <a:t>Released for CNF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5102352"/>
            <a:ext cx="2880360" cy="576072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A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5175504"/>
            <a:ext cx="2651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A7E2D"/>
                </a:solidFill>
                <a:latin typeface="Aptos"/>
              </a:rPr>
              <a:t>LICENSING COST AVOIDED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376672"/>
            <a:ext cx="2651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1E2330"/>
                </a:solidFill>
                <a:latin typeface="Aptos"/>
              </a:rPr>
              <a:t>Open-source strongSwan replacing licensed QuickSec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5102352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2330"/>
                </a:solidFill>
                <a:latin typeface="Aptos"/>
              </a:rPr>
              <a:t>26B development complete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5404104"/>
            <a:ext cx="1737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2330"/>
                </a:solidFill>
                <a:latin typeface="Aptos"/>
              </a:rPr>
              <a:t>27A feature review underway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822191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97B5"/>
                </a:solidFill>
                <a:latin typeface="Aptos"/>
              </a:rPr>
              <a:t>xDU — NEW STRATEGIC INITIATIVE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230696"/>
            <a:ext cx="306324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60236" y="5297832"/>
            <a:ext cx="74066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1A2D84"/>
                </a:solidFill>
                <a:latin typeface="Aptos"/>
              </a:rPr>
              <a:t>HOST 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15784" y="5304831"/>
            <a:ext cx="1901952" cy="22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1" dirty="0">
                <a:solidFill>
                  <a:srgbClr val="1E2330"/>
                </a:solidFill>
                <a:latin typeface="Aptos"/>
              </a:rPr>
              <a:t>Ubuntu Server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709160"/>
            <a:ext cx="306324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8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0528" y="4791456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9897E"/>
                </a:solidFill>
                <a:latin typeface="Aptos"/>
              </a:rPr>
              <a:t>CaaS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68896" y="4791456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1" dirty="0">
                <a:solidFill>
                  <a:srgbClr val="1E2330"/>
                </a:solidFill>
                <a:latin typeface="Aptos"/>
              </a:rPr>
              <a:t>RKE2 • configuration framework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4187626"/>
            <a:ext cx="306324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10528" y="4297680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443EB5"/>
                </a:solidFill>
                <a:latin typeface="Aptos"/>
              </a:rPr>
              <a:t>AIS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8896" y="4297680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1" dirty="0">
                <a:solidFill>
                  <a:srgbClr val="1E2330"/>
                </a:solidFill>
                <a:latin typeface="Aptos"/>
              </a:rPr>
              <a:t>AI/ML middleware on Granite Rapids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10928" y="4251960"/>
            <a:ext cx="1600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857232" y="437083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97B5"/>
                </a:solidFill>
                <a:latin typeface="Aptos"/>
              </a:rPr>
              <a:t>RSDT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57232" y="4663440"/>
            <a:ext cx="12801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5A6273"/>
                </a:solidFill>
                <a:latin typeface="Aptos"/>
              </a:rPr>
              <a:t>Internal PoC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14432" y="486460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97B5"/>
                </a:solidFill>
                <a:latin typeface="Aptos"/>
              </a:rPr>
              <a:t>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7232" y="5060088"/>
            <a:ext cx="128016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 err="1">
                <a:solidFill>
                  <a:srgbClr val="1E2330"/>
                </a:solidFill>
                <a:latin typeface="Aptos"/>
              </a:rPr>
              <a:t>NoS</a:t>
            </a:r>
            <a:r>
              <a:rPr sz="900" b="1" dirty="0">
                <a:solidFill>
                  <a:srgbClr val="1E2330"/>
                </a:solidFill>
                <a:latin typeface="Aptos"/>
              </a:rPr>
              <a:t> Integration</a:t>
            </a:r>
            <a:r>
              <a:rPr lang="en-US" sz="900" b="1" dirty="0">
                <a:solidFill>
                  <a:srgbClr val="1E2330"/>
                </a:solidFill>
                <a:latin typeface="Aptos"/>
              </a:rPr>
              <a:t> (26B)</a:t>
            </a:r>
            <a:endParaRPr sz="900" b="1" dirty="0">
              <a:solidFill>
                <a:srgbClr val="1E2330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6928" y="6516382"/>
            <a:ext cx="530352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5A6273"/>
                </a:solidFill>
                <a:latin typeface="Aptos"/>
              </a:rPr>
              <a:t>SYSTEM SOFTWARE 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8602" y="2756266"/>
            <a:ext cx="461772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970898" y="2806558"/>
            <a:ext cx="749808" cy="173736"/>
          </a:xfrm>
          <a:prstGeom prst="roundRect">
            <a:avLst/>
          </a:prstGeom>
          <a:solidFill>
            <a:srgbClr val="1497B5"/>
          </a:solidFill>
          <a:ln>
            <a:solidFill>
              <a:srgbClr val="14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1753" y="2806558"/>
            <a:ext cx="749808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Aptos"/>
              </a:rPr>
              <a:t>NEW FEATURE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03001" y="2788270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 dirty="0">
                <a:solidFill>
                  <a:srgbClr val="1A2D84"/>
                </a:solidFill>
                <a:latin typeface="Aptos"/>
              </a:rPr>
              <a:t>Clock Dualization — 2G </a:t>
            </a:r>
            <a:r>
              <a:rPr sz="860" b="1" dirty="0" err="1">
                <a:solidFill>
                  <a:srgbClr val="1A2D84"/>
                </a:solidFill>
                <a:latin typeface="Aptos"/>
              </a:rPr>
              <a:t>vBSC</a:t>
            </a:r>
            <a:endParaRPr sz="860" b="1" dirty="0">
              <a:solidFill>
                <a:srgbClr val="1A2D84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30633" y="2722655"/>
            <a:ext cx="1965960" cy="332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80" b="1" dirty="0">
                <a:solidFill>
                  <a:srgbClr val="1E2330"/>
                </a:solidFill>
                <a:latin typeface="Aptos"/>
              </a:rPr>
              <a:t>First </a:t>
            </a:r>
            <a:r>
              <a:rPr sz="780" b="1" dirty="0" err="1">
                <a:solidFill>
                  <a:srgbClr val="1E2330"/>
                </a:solidFill>
                <a:latin typeface="Aptos"/>
              </a:rPr>
              <a:t>vRAN</a:t>
            </a:r>
            <a:r>
              <a:rPr sz="780" b="1" dirty="0">
                <a:solidFill>
                  <a:srgbClr val="1E2330"/>
                </a:solidFill>
                <a:latin typeface="Aptos"/>
              </a:rPr>
              <a:t> implementation supporting</a:t>
            </a:r>
            <a:r>
              <a:rPr lang="en-US" sz="780" b="1" dirty="0">
                <a:solidFill>
                  <a:srgbClr val="1E2330"/>
                </a:solidFill>
                <a:latin typeface="Aptos"/>
              </a:rPr>
              <a:t> </a:t>
            </a:r>
            <a:r>
              <a:rPr sz="780" b="1" dirty="0">
                <a:solidFill>
                  <a:srgbClr val="1E2330"/>
                </a:solidFill>
                <a:latin typeface="Aptos"/>
              </a:rPr>
              <a:t>both PTP + NTP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84"/>
          </a:solidFill>
          <a:ln>
            <a:solidFill>
              <a:srgbClr val="1A2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3152"/>
            <a:ext cx="8046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Engineering Opportunities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92801"/>
            <a:ext cx="896112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950" dirty="0">
                <a:solidFill>
                  <a:srgbClr val="DAE2FF"/>
                </a:solidFill>
                <a:latin typeface="Aptos"/>
              </a:rPr>
              <a:t>B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uilding </a:t>
            </a:r>
            <a:r>
              <a:rPr lang="en-US" sz="950" dirty="0">
                <a:solidFill>
                  <a:srgbClr val="DAE2FF"/>
                </a:solidFill>
                <a:latin typeface="Aptos"/>
              </a:rPr>
              <a:t>C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apabilities for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F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uture </a:t>
            </a:r>
            <a:r>
              <a:rPr lang="en-US" sz="950" dirty="0">
                <a:solidFill>
                  <a:srgbClr val="DAE2FF"/>
                </a:solidFill>
                <a:latin typeface="Aptos"/>
              </a:rPr>
              <a:t>W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ireless </a:t>
            </a:r>
            <a:r>
              <a:rPr lang="en-US" sz="950" dirty="0">
                <a:solidFill>
                  <a:srgbClr val="DAE2FF"/>
                </a:solidFill>
                <a:latin typeface="Aptos"/>
              </a:rPr>
              <a:t>N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etworks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 in Collaboration with Suwon </a:t>
            </a:r>
            <a:endParaRPr sz="950" b="0" dirty="0">
              <a:solidFill>
                <a:srgbClr val="DAE2FF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87000" y="155448"/>
            <a:ext cx="1325880" cy="310896"/>
          </a:xfrm>
          <a:prstGeom prst="roundRect">
            <a:avLst/>
          </a:prstGeom>
          <a:solidFill>
            <a:srgbClr val="2D48BE"/>
          </a:solidFill>
          <a:ln w="12700">
            <a:solidFill>
              <a:srgbClr val="2D4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000" y="155448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960120"/>
            <a:ext cx="5623560" cy="5330952"/>
          </a:xfrm>
          <a:prstGeom prst="roundRect">
            <a:avLst/>
          </a:prstGeom>
          <a:solidFill>
            <a:srgbClr val="EBF0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165748"/>
            <a:ext cx="529437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2D48BE"/>
                </a:solidFill>
                <a:latin typeface="Aptos"/>
              </a:rPr>
              <a:t> N</a:t>
            </a:r>
            <a:r>
              <a:rPr lang="en-US" sz="1600" b="1" dirty="0">
                <a:solidFill>
                  <a:srgbClr val="2D48BE"/>
                </a:solidFill>
                <a:latin typeface="Aptos"/>
              </a:rPr>
              <a:t>etworking Stack with Fault Management Capability</a:t>
            </a:r>
            <a:endParaRPr sz="1600" b="1" dirty="0">
              <a:solidFill>
                <a:srgbClr val="2D48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1592616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A2D84"/>
                </a:solidFill>
                <a:latin typeface="Aptos"/>
              </a:rPr>
              <a:t>Purpose-built lightweight IP routing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4389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 err="1">
                <a:solidFill>
                  <a:srgbClr val="5A6273"/>
                </a:solidFill>
                <a:latin typeface="Aptos"/>
              </a:rPr>
              <a:t>tRAN</a:t>
            </a:r>
            <a:r>
              <a:rPr sz="1000" b="1" dirty="0">
                <a:solidFill>
                  <a:srgbClr val="5A6273"/>
                </a:solidFill>
                <a:latin typeface="Aptos"/>
              </a:rPr>
              <a:t> focus • BFD &amp; CFM fault-management modules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496312"/>
            <a:ext cx="201168" cy="201168"/>
          </a:xfrm>
          <a:prstGeom prst="ellipse">
            <a:avLst/>
          </a:prstGeom>
          <a:solidFill>
            <a:srgbClr val="2D48BE"/>
          </a:solidFill>
          <a:ln>
            <a:solidFill>
              <a:srgbClr val="2D4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496312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761488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D48BE"/>
                </a:solidFill>
                <a:latin typeface="Aptos"/>
              </a:rPr>
              <a:t>tRAN</a:t>
            </a:r>
          </a:p>
        </p:txBody>
      </p:sp>
      <p:sp>
        <p:nvSpPr>
          <p:cNvPr id="15" name="Oval 14"/>
          <p:cNvSpPr/>
          <p:nvPr/>
        </p:nvSpPr>
        <p:spPr>
          <a:xfrm>
            <a:off x="2148840" y="2496312"/>
            <a:ext cx="201168" cy="201168"/>
          </a:xfrm>
          <a:prstGeom prst="ellipse">
            <a:avLst/>
          </a:prstGeom>
          <a:solidFill>
            <a:srgbClr val="1497B5"/>
          </a:solidFill>
          <a:ln>
            <a:solidFill>
              <a:srgbClr val="14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2496312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20240" y="2761488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97B5"/>
                </a:solidFill>
                <a:latin typeface="Aptos"/>
              </a:rPr>
              <a:t>Stabilize</a:t>
            </a:r>
          </a:p>
        </p:txBody>
      </p:sp>
      <p:sp>
        <p:nvSpPr>
          <p:cNvPr id="18" name="Oval 17"/>
          <p:cNvSpPr/>
          <p:nvPr/>
        </p:nvSpPr>
        <p:spPr>
          <a:xfrm>
            <a:off x="3611880" y="2496312"/>
            <a:ext cx="201168" cy="201168"/>
          </a:xfrm>
          <a:prstGeom prst="ellipse">
            <a:avLst/>
          </a:prstGeom>
          <a:solidFill>
            <a:srgbClr val="443EB5"/>
          </a:solidFill>
          <a:ln>
            <a:solidFill>
              <a:srgbClr val="44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496312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2761488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443EB5"/>
                </a:solidFill>
                <a:latin typeface="Aptos"/>
              </a:rPr>
              <a:t>Evolve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2496312"/>
            <a:ext cx="201168" cy="201168"/>
          </a:xfrm>
          <a:prstGeom prst="ellipse">
            <a:avLst/>
          </a:prstGeom>
          <a:solidFill>
            <a:srgbClr val="AB358E"/>
          </a:solidFill>
          <a:ln>
            <a:solidFill>
              <a:srgbClr val="AB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496312"/>
            <a:ext cx="2011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787134"/>
            <a:ext cx="685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AB358E"/>
                </a:solidFill>
                <a:latin typeface="Aptos"/>
              </a:rPr>
              <a:t>6G RAN
</a:t>
            </a:r>
            <a:r>
              <a:rPr lang="en-US" sz="900" b="1" dirty="0">
                <a:solidFill>
                  <a:srgbClr val="AB358E"/>
                </a:solidFill>
                <a:latin typeface="Aptos"/>
              </a:rPr>
              <a:t>(SVR 28A)</a:t>
            </a:r>
            <a:endParaRPr sz="900" b="1" dirty="0">
              <a:solidFill>
                <a:srgbClr val="AB358E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2596896"/>
            <a:ext cx="3904488" cy="0"/>
          </a:xfrm>
          <a:prstGeom prst="line">
            <a:avLst/>
          </a:prstGeom>
          <a:ln w="25400">
            <a:solidFill>
              <a:srgbClr val="9BA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2668" y="3218361"/>
            <a:ext cx="4892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E2330"/>
                </a:solidFill>
                <a:latin typeface="Aptos"/>
              </a:rPr>
              <a:t>A lightweight routing foundation with a path toward future 6G RAN nodes.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4672" y="3840480"/>
            <a:ext cx="5120640" cy="0"/>
          </a:xfrm>
          <a:prstGeom prst="line">
            <a:avLst/>
          </a:prstGeom>
          <a:ln w="12700">
            <a:solidFill>
              <a:srgbClr val="CDD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4050902"/>
            <a:ext cx="27432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2D48BE"/>
                </a:solidFill>
                <a:latin typeface="Aptos"/>
              </a:rPr>
              <a:t>FRR-B</a:t>
            </a:r>
            <a:r>
              <a:rPr lang="en-US" sz="1300" b="1" dirty="0">
                <a:solidFill>
                  <a:srgbClr val="2D48BE"/>
                </a:solidFill>
                <a:latin typeface="Aptos"/>
              </a:rPr>
              <a:t>ased</a:t>
            </a:r>
            <a:r>
              <a:rPr sz="1300" b="1" dirty="0">
                <a:solidFill>
                  <a:srgbClr val="2D48BE"/>
                </a:solidFill>
                <a:latin typeface="Aptos"/>
              </a:rPr>
              <a:t> R</a:t>
            </a:r>
            <a:r>
              <a:rPr lang="en-US" sz="1300" b="1" dirty="0">
                <a:solidFill>
                  <a:srgbClr val="2D48BE"/>
                </a:solidFill>
                <a:latin typeface="Aptos"/>
              </a:rPr>
              <a:t>outing</a:t>
            </a:r>
            <a:r>
              <a:rPr sz="1300" b="1" dirty="0">
                <a:solidFill>
                  <a:srgbClr val="2D48BE"/>
                </a:solidFill>
                <a:latin typeface="Aptos"/>
              </a:rPr>
              <a:t> S</a:t>
            </a:r>
            <a:r>
              <a:rPr lang="en-US" sz="1300" b="1" dirty="0">
                <a:solidFill>
                  <a:srgbClr val="2D48BE"/>
                </a:solidFill>
                <a:latin typeface="Aptos"/>
              </a:rPr>
              <a:t>tack</a:t>
            </a:r>
            <a:endParaRPr sz="1300" b="1" dirty="0">
              <a:solidFill>
                <a:srgbClr val="2D48B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" y="4370832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5A6273"/>
                </a:solidFill>
                <a:latin typeface="Aptos"/>
              </a:rPr>
              <a:t>Virtual RAN deployment focus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28032"/>
            <a:ext cx="15544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965192"/>
            <a:ext cx="140817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DA7E2D"/>
                </a:solidFill>
                <a:latin typeface="Aptos"/>
              </a:rPr>
              <a:t>Legacy ZebOS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493776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2D48BE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54680" y="4828032"/>
            <a:ext cx="16916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55264" y="4974336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E8F5B"/>
                </a:solidFill>
                <a:latin typeface="Aptos"/>
              </a:rPr>
              <a:t>FRR Routing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532120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 dirty="0">
                <a:solidFill>
                  <a:srgbClr val="1E2330"/>
                </a:solidFill>
                <a:latin typeface="Aptos"/>
              </a:rPr>
              <a:t>Removes product dependency on the outdated </a:t>
            </a:r>
            <a:r>
              <a:rPr sz="930" b="0" dirty="0" err="1">
                <a:solidFill>
                  <a:srgbClr val="1E2330"/>
                </a:solidFill>
                <a:latin typeface="Aptos"/>
              </a:rPr>
              <a:t>ZebOS</a:t>
            </a:r>
            <a:r>
              <a:rPr sz="930" b="0" dirty="0">
                <a:solidFill>
                  <a:srgbClr val="1E2330"/>
                </a:solidFill>
                <a:latin typeface="Aptos"/>
              </a:rPr>
              <a:t> stack after stabilization.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960120"/>
            <a:ext cx="5257800" cy="2514600"/>
          </a:xfrm>
          <a:prstGeom prst="roundRect">
            <a:avLst/>
          </a:prstGeom>
          <a:solidFill>
            <a:srgbClr val="E9F7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47104" y="1069848"/>
            <a:ext cx="49286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1497B5"/>
                </a:solidFill>
                <a:latin typeface="Aptos"/>
              </a:rPr>
              <a:t>xDU</a:t>
            </a:r>
            <a:r>
              <a:rPr sz="1200" b="1" dirty="0">
                <a:solidFill>
                  <a:srgbClr val="1497B5"/>
                </a:solidFill>
                <a:latin typeface="Aptos"/>
              </a:rPr>
              <a:t> — AI SERVICES (AIS)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1307592"/>
            <a:ext cx="492861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A6273"/>
                </a:solidFill>
                <a:latin typeface="Aptos"/>
              </a:rPr>
              <a:t>Reusable AI capability for the platform</a:t>
            </a:r>
          </a:p>
        </p:txBody>
      </p:sp>
      <p:sp>
        <p:nvSpPr>
          <p:cNvPr id="38" name="Oval 37"/>
          <p:cNvSpPr/>
          <p:nvPr/>
        </p:nvSpPr>
        <p:spPr>
          <a:xfrm>
            <a:off x="8705088" y="1874519"/>
            <a:ext cx="658368" cy="658368"/>
          </a:xfrm>
          <a:prstGeom prst="ellipse">
            <a:avLst/>
          </a:prstGeom>
          <a:solidFill>
            <a:srgbClr val="443EB5"/>
          </a:solidFill>
          <a:ln>
            <a:solidFill>
              <a:srgbClr val="44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05088" y="17602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1737360"/>
            <a:ext cx="132588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93992" y="1783080"/>
            <a:ext cx="1179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1E2330"/>
                </a:solidFill>
                <a:latin typeface="Aptos"/>
              </a:rPr>
              <a:t>MODEL
FINE-TUNING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1737360"/>
            <a:ext cx="132588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2952" y="1783080"/>
            <a:ext cx="1179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1E2330"/>
                </a:solidFill>
                <a:latin typeface="Aptos"/>
              </a:rPr>
              <a:t>ML FOR HA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2542032"/>
            <a:ext cx="132588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93992" y="2587751"/>
            <a:ext cx="1179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1E2330"/>
                </a:solidFill>
                <a:latin typeface="Aptos"/>
              </a:rPr>
              <a:t>HARDWARE
OPTIMIZATION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2542032"/>
            <a:ext cx="132588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02952" y="2587751"/>
            <a:ext cx="11795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1E2330"/>
                </a:solidFill>
                <a:latin typeface="Aptos"/>
              </a:rPr>
              <a:t>PLATFORM
USE CASES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8046720" y="1984248"/>
            <a:ext cx="987552" cy="219456"/>
          </a:xfrm>
          <a:prstGeom prst="line">
            <a:avLst/>
          </a:prstGeom>
          <a:ln w="15240">
            <a:solidFill>
              <a:srgbClr val="A3A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  <a:endCxn id="42" idx="1"/>
          </p:cNvCxnSpPr>
          <p:nvPr/>
        </p:nvCxnSpPr>
        <p:spPr>
          <a:xfrm flipV="1">
            <a:off x="9034272" y="1988820"/>
            <a:ext cx="795528" cy="214884"/>
          </a:xfrm>
          <a:prstGeom prst="line">
            <a:avLst/>
          </a:prstGeom>
          <a:ln w="15240">
            <a:solidFill>
              <a:srgbClr val="A3A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</p:cNvCxnSpPr>
          <p:nvPr/>
        </p:nvCxnSpPr>
        <p:spPr>
          <a:xfrm flipH="1">
            <a:off x="8046720" y="2203704"/>
            <a:ext cx="987552" cy="557784"/>
          </a:xfrm>
          <a:prstGeom prst="line">
            <a:avLst/>
          </a:prstGeom>
          <a:ln w="15240">
            <a:solidFill>
              <a:srgbClr val="A3A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cxnSpLocks/>
            <a:endCxn id="46" idx="1"/>
          </p:cNvCxnSpPr>
          <p:nvPr/>
        </p:nvCxnSpPr>
        <p:spPr>
          <a:xfrm>
            <a:off x="9034272" y="2203704"/>
            <a:ext cx="795528" cy="589788"/>
          </a:xfrm>
          <a:prstGeom prst="line">
            <a:avLst/>
          </a:prstGeom>
          <a:ln w="15240">
            <a:solidFill>
              <a:srgbClr val="A3A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382512" y="3604074"/>
            <a:ext cx="2514600" cy="2615184"/>
          </a:xfrm>
          <a:prstGeom prst="roundRect">
            <a:avLst/>
          </a:prstGeom>
          <a:solidFill>
            <a:srgbClr val="EDF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47104" y="3785615"/>
            <a:ext cx="21854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2E8F5B"/>
                </a:solidFill>
                <a:latin typeface="Aptos"/>
              </a:rPr>
              <a:t>xDU</a:t>
            </a:r>
            <a:r>
              <a:rPr sz="1200" b="1" dirty="0">
                <a:solidFill>
                  <a:srgbClr val="2E8F5B"/>
                </a:solidFill>
                <a:latin typeface="Aptos"/>
              </a:rPr>
              <a:t> — CaaS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1988" y="4270247"/>
            <a:ext cx="20574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>
                <a:solidFill>
                  <a:srgbClr val="1E2330"/>
                </a:solidFill>
                <a:latin typeface="Aptos"/>
              </a:rPr>
              <a:t>RKE2-based foundation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3488" y="4498848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E8F5B"/>
                </a:solidFill>
                <a:latin typeface="Aptos"/>
              </a:rPr>
              <a:t>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7688" y="4739858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E2330"/>
                </a:solidFill>
                <a:latin typeface="Aptos"/>
              </a:rPr>
              <a:t>Configuration framework
enhancement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3488" y="5230368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E8F5B"/>
                </a:solidFill>
                <a:latin typeface="Aptos"/>
              </a:rPr>
              <a:t>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4986" y="5468112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dirty="0">
                <a:solidFill>
                  <a:srgbClr val="1E2330"/>
                </a:solidFill>
                <a:latin typeface="Aptos"/>
              </a:rPr>
              <a:t>CaaS layer
stabilization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83040" y="3622362"/>
            <a:ext cx="2542032" cy="2615184"/>
          </a:xfrm>
          <a:prstGeom prst="roundRect">
            <a:avLst/>
          </a:prstGeom>
          <a:solidFill>
            <a:srgbClr val="FCF3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62872" y="3756844"/>
            <a:ext cx="221284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00" b="1" dirty="0" err="1">
                <a:solidFill>
                  <a:srgbClr val="DA7E2D"/>
                </a:solidFill>
                <a:latin typeface="Aptos"/>
              </a:rPr>
              <a:t>vRAN</a:t>
            </a:r>
            <a:r>
              <a:rPr sz="1200" b="1" dirty="0">
                <a:solidFill>
                  <a:srgbClr val="DA7E2D"/>
                </a:solidFill>
                <a:latin typeface="Aptos"/>
              </a:rPr>
              <a:t> 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4150037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 err="1">
                <a:solidFill>
                  <a:srgbClr val="DA7E2D"/>
                </a:solidFill>
                <a:latin typeface="Aptos"/>
              </a:rPr>
              <a:t>strongSwan</a:t>
            </a:r>
            <a:endParaRPr sz="1500" b="1" dirty="0">
              <a:solidFill>
                <a:srgbClr val="DA7E2D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08592" y="4709160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8F5B"/>
                </a:solidFill>
                <a:latin typeface="Aptos"/>
              </a:rPr>
              <a:t>CNF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8631" y="4716964"/>
            <a:ext cx="85431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00B050"/>
                </a:solidFill>
                <a:latin typeface="Aptos"/>
              </a:rPr>
              <a:t>✓</a:t>
            </a:r>
            <a:r>
              <a:rPr sz="1200" b="1" dirty="0">
                <a:solidFill>
                  <a:srgbClr val="1E2330"/>
                </a:solidFill>
                <a:latin typeface="Aptos"/>
              </a:rPr>
              <a:t> </a:t>
            </a:r>
            <a:r>
              <a:rPr lang="en-US" sz="1200" b="1" dirty="0">
                <a:solidFill>
                  <a:srgbClr val="1E2330"/>
                </a:solidFill>
                <a:latin typeface="Aptos"/>
              </a:rPr>
              <a:t>   </a:t>
            </a:r>
            <a:r>
              <a:rPr sz="1200" b="1" dirty="0">
                <a:solidFill>
                  <a:srgbClr val="1E2330"/>
                </a:solidFill>
                <a:latin typeface="Aptos"/>
              </a:rPr>
              <a:t> 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68711" y="4718303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2D48BE"/>
                </a:solidFill>
                <a:latin typeface="Aptos"/>
              </a:rPr>
              <a:t>PNF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08592" y="5230368"/>
            <a:ext cx="2103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>
                <a:solidFill>
                  <a:srgbClr val="1E2330"/>
                </a:solidFill>
                <a:latin typeface="Aptos"/>
              </a:rPr>
              <a:t>Deployment &amp; stabilization
for additional platforms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27732" y="6091243"/>
            <a:ext cx="7909560" cy="256032"/>
          </a:xfrm>
          <a:prstGeom prst="roundRect">
            <a:avLst/>
          </a:prstGeom>
          <a:solidFill>
            <a:srgbClr val="1A2D84"/>
          </a:solidFill>
          <a:ln w="12700">
            <a:solidFill>
              <a:srgbClr val="1A2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258568" y="6126480"/>
            <a:ext cx="7726679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 dirty="0">
                <a:solidFill>
                  <a:srgbClr val="FFFFFF"/>
                </a:solidFill>
                <a:latin typeface="Aptos"/>
              </a:rPr>
              <a:t>IP NETWORKING  •  AI/ML  •  CLOUD NATIVE  •  SECURITY  •  6G READINESS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" y="6471330"/>
            <a:ext cx="530352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5A6273"/>
                </a:solidFill>
                <a:latin typeface="Aptos"/>
              </a:rPr>
              <a:t>SYSTEM  SOFTWARE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84"/>
          </a:solidFill>
          <a:ln>
            <a:solidFill>
              <a:srgbClr val="1A2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3152"/>
            <a:ext cx="8046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Engineering Excellence | Measurable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92801"/>
            <a:ext cx="896112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950" dirty="0">
                <a:solidFill>
                  <a:srgbClr val="DAE2FF"/>
                </a:solidFill>
                <a:latin typeface="Aptos"/>
              </a:rPr>
              <a:t>P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erformance,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Q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uality and </a:t>
            </a:r>
            <a:r>
              <a:rPr lang="en-US" sz="950" b="0" dirty="0">
                <a:solidFill>
                  <a:srgbClr val="DAE2FF"/>
                </a:solidFill>
                <a:latin typeface="Aptos"/>
              </a:rPr>
              <a:t>R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esource </a:t>
            </a:r>
            <a:r>
              <a:rPr lang="en-US" sz="950" dirty="0">
                <a:solidFill>
                  <a:srgbClr val="DAE2FF"/>
                </a:solidFill>
                <a:latin typeface="Aptos"/>
              </a:rPr>
              <a:t>E</a:t>
            </a:r>
            <a:r>
              <a:rPr sz="950" b="0" dirty="0">
                <a:solidFill>
                  <a:srgbClr val="DAE2FF"/>
                </a:solidFill>
                <a:latin typeface="Aptos"/>
              </a:rPr>
              <a:t>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155448"/>
            <a:ext cx="1325880" cy="310896"/>
          </a:xfrm>
          <a:prstGeom prst="roundRect">
            <a:avLst/>
          </a:prstGeom>
          <a:solidFill>
            <a:srgbClr val="2D48BE"/>
          </a:solidFill>
          <a:ln w="12700">
            <a:solidFill>
              <a:srgbClr val="2D4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000" y="155448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OPTIMIZED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950976"/>
            <a:ext cx="26060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24128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D48BE"/>
                </a:solidFill>
                <a:latin typeface="Aptos"/>
              </a:rPr>
              <a:t>429×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238658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FASTER ROUTE ADD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950976"/>
            <a:ext cx="26060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024128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497B5"/>
                </a:solidFill>
                <a:latin typeface="Aptos"/>
              </a:rPr>
              <a:t>538×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344168"/>
            <a:ext cx="238658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FASTER ROUTE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950976"/>
            <a:ext cx="26060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024128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443EB5"/>
                </a:solidFill>
                <a:latin typeface="Aptos"/>
              </a:rPr>
              <a:t>298×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344168"/>
            <a:ext cx="238658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FASTER AI WARM-UP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950976"/>
            <a:ext cx="260604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0303" y="1024128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E8F5B"/>
                </a:solidFill>
                <a:latin typeface="Aptos"/>
              </a:rPr>
              <a:t>↓ 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3" y="1344168"/>
            <a:ext cx="238658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DEFECT DENSITY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874519"/>
            <a:ext cx="5486400" cy="1965960"/>
          </a:xfrm>
          <a:prstGeom prst="roundRect">
            <a:avLst/>
          </a:prstGeom>
          <a:solidFill>
            <a:srgbClr val="EBF0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1984248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D48BE"/>
                </a:solidFill>
                <a:latin typeface="Aptos"/>
              </a:rPr>
              <a:t>NETWORK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21991"/>
            <a:ext cx="515721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A6273"/>
                </a:solidFill>
                <a:latin typeface="Aptos"/>
              </a:rPr>
              <a:t>2G vRAN route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216" y="2452225"/>
            <a:ext cx="4389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E2330"/>
                </a:solidFill>
                <a:latin typeface="Aptos"/>
              </a:rPr>
              <a:t>Latency reduction translated into major speed gains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2816352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5A6273"/>
                </a:solidFill>
                <a:latin typeface="Aptos"/>
              </a:rPr>
              <a:t>ADD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50422" y="2788920"/>
            <a:ext cx="2834640" cy="228600"/>
          </a:xfrm>
          <a:prstGeom prst="rect">
            <a:avLst/>
          </a:prstGeom>
          <a:solidFill>
            <a:srgbClr val="D2DCF9"/>
          </a:solidFill>
          <a:ln w="12700">
            <a:solidFill>
              <a:srgbClr val="D2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750422" y="2788920"/>
            <a:ext cx="2331720" cy="228600"/>
          </a:xfrm>
          <a:prstGeom prst="rect">
            <a:avLst/>
          </a:prstGeom>
          <a:solidFill>
            <a:srgbClr val="2D48BE"/>
          </a:solidFill>
          <a:ln w="12700">
            <a:solidFill>
              <a:srgbClr val="2D4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46733" y="276148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2D48BE"/>
                </a:solidFill>
                <a:latin typeface="Aptos"/>
              </a:rPr>
              <a:t>429×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" y="3143695"/>
            <a:ext cx="579011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dirty="0">
                <a:solidFill>
                  <a:srgbClr val="5A6273"/>
                </a:solidFill>
                <a:latin typeface="Aptos"/>
              </a:rPr>
              <a:t>DELETE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50422" y="3154680"/>
            <a:ext cx="2834640" cy="228600"/>
          </a:xfrm>
          <a:prstGeom prst="rect">
            <a:avLst/>
          </a:prstGeom>
          <a:solidFill>
            <a:srgbClr val="D2DCF9"/>
          </a:solidFill>
          <a:ln w="12700">
            <a:solidFill>
              <a:srgbClr val="D2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750422" y="3154680"/>
            <a:ext cx="2743200" cy="228600"/>
          </a:xfrm>
          <a:prstGeom prst="rect">
            <a:avLst/>
          </a:prstGeom>
          <a:solidFill>
            <a:srgbClr val="1497B5"/>
          </a:solidFill>
          <a:ln w="12700">
            <a:solidFill>
              <a:srgbClr val="14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30782" y="312724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97B5"/>
                </a:solidFill>
                <a:latin typeface="Aptos"/>
              </a:rPr>
              <a:t>538×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49300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dirty="0" err="1">
                <a:solidFill>
                  <a:srgbClr val="5A6273"/>
                </a:solidFill>
                <a:latin typeface="Aptos"/>
              </a:rPr>
              <a:t>Netlink</a:t>
            </a:r>
            <a:r>
              <a:rPr sz="850" b="1" dirty="0">
                <a:solidFill>
                  <a:srgbClr val="5A6273"/>
                </a:solidFill>
                <a:latin typeface="Aptos"/>
              </a:rPr>
              <a:t>-based optimization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1874519"/>
            <a:ext cx="5486400" cy="1965960"/>
          </a:xfrm>
          <a:prstGeom prst="roundRect">
            <a:avLst/>
          </a:prstGeom>
          <a:solidFill>
            <a:srgbClr val="EDF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59" y="1984248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E8F5B"/>
                </a:solidFill>
                <a:latin typeface="Aptos"/>
              </a:rPr>
              <a:t>SOFTWARE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124864"/>
            <a:ext cx="254203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dirty="0">
                <a:solidFill>
                  <a:srgbClr val="5A6273"/>
                </a:solidFill>
                <a:latin typeface="Aptos"/>
              </a:rPr>
              <a:t>2G BSC System SW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2606040"/>
            <a:ext cx="164592" cy="164592"/>
          </a:xfrm>
          <a:prstGeom prst="ellipse">
            <a:avLst/>
          </a:prstGeom>
          <a:solidFill>
            <a:srgbClr val="2E8F5B"/>
          </a:solidFill>
          <a:ln>
            <a:solidFill>
              <a:srgbClr val="2E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606040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295144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E2330"/>
                </a:solidFill>
                <a:latin typeface="Aptos"/>
              </a:rPr>
              <a:t>19.27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493008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25A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665976" y="2688336"/>
            <a:ext cx="1920240" cy="475488"/>
          </a:xfrm>
          <a:prstGeom prst="line">
            <a:avLst/>
          </a:prstGeom>
          <a:ln w="25400">
            <a:solidFill>
              <a:srgbClr val="2E8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503920" y="3081528"/>
            <a:ext cx="164592" cy="164592"/>
          </a:xfrm>
          <a:prstGeom prst="ellipse">
            <a:avLst/>
          </a:prstGeom>
          <a:solidFill>
            <a:srgbClr val="2E8F5B"/>
          </a:solidFill>
          <a:ln>
            <a:solidFill>
              <a:srgbClr val="2E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3081528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2770632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E2330"/>
                </a:solidFill>
                <a:latin typeface="Aptos"/>
              </a:rPr>
              <a:t>3.51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493008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25B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586216" y="3163824"/>
            <a:ext cx="1920240" cy="192024"/>
          </a:xfrm>
          <a:prstGeom prst="line">
            <a:avLst/>
          </a:prstGeom>
          <a:ln w="25400">
            <a:solidFill>
              <a:srgbClr val="2E8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424160" y="3273552"/>
            <a:ext cx="164592" cy="164592"/>
          </a:xfrm>
          <a:prstGeom prst="ellipse">
            <a:avLst/>
          </a:prstGeom>
          <a:solidFill>
            <a:srgbClr val="2E8F5B"/>
          </a:solidFill>
          <a:ln>
            <a:solidFill>
              <a:srgbClr val="2E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424160" y="3273552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04120" y="2962656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E2330"/>
                </a:solidFill>
                <a:latin typeface="Aptos"/>
              </a:rPr>
              <a:t>2.26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3493008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26A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2331720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E8F5B"/>
                </a:solidFill>
                <a:latin typeface="Aptos"/>
              </a:rPr>
              <a:t>88% reduction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041648"/>
            <a:ext cx="5486400" cy="2176272"/>
          </a:xfrm>
          <a:prstGeom prst="roundRect">
            <a:avLst/>
          </a:prstGeom>
          <a:solidFill>
            <a:srgbClr val="E9F7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4151376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443EB5"/>
                </a:solidFill>
                <a:latin typeface="Aptos"/>
              </a:rPr>
              <a:t>AI MODEL OPTIMIZATION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389120"/>
            <a:ext cx="515721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A6273"/>
                </a:solidFill>
                <a:latin typeface="Aptos"/>
              </a:rPr>
              <a:t>AIS framework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4663440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443EB5"/>
                </a:solidFill>
                <a:latin typeface="Aptos"/>
              </a:rPr>
              <a:t>298×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" y="502920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E2330"/>
                </a:solidFill>
                <a:latin typeface="Aptos"/>
              </a:rPr>
              <a:t>faster first inference / warm-up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5358384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ONNX-based optimization • 256 iterations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154680" y="4526280"/>
            <a:ext cx="0" cy="1399032"/>
          </a:xfrm>
          <a:prstGeom prst="line">
            <a:avLst/>
          </a:prstGeom>
          <a:ln w="12700">
            <a:solidFill>
              <a:srgbClr val="C9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429000" y="4498848"/>
            <a:ext cx="1143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E8F5B"/>
                </a:solidFill>
                <a:latin typeface="Aptos"/>
              </a:rPr>
              <a:t>COMPLETED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9000" y="4754880"/>
            <a:ext cx="1828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E2330"/>
                </a:solidFill>
                <a:latin typeface="Aptos"/>
              </a:rPr>
              <a:t>Model optimization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9000" y="516636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DA7E2D"/>
                </a:solidFill>
                <a:latin typeface="Aptos"/>
              </a:rPr>
              <a:t>NEXT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13248"/>
            <a:ext cx="2011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E2330"/>
                </a:solidFill>
                <a:latin typeface="Aptos"/>
              </a:rPr>
              <a:t>Hardware-aware execution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5687568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A6273"/>
                </a:solidFill>
                <a:latin typeface="Aptos"/>
              </a:rPr>
              <a:t>AMX • AVX • automatic capability detection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44768" y="4041648"/>
            <a:ext cx="5486400" cy="2176272"/>
          </a:xfrm>
          <a:prstGeom prst="roundRect">
            <a:avLst/>
          </a:prstGeom>
          <a:solidFill>
            <a:srgbClr val="FCF3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09359" y="4151376"/>
            <a:ext cx="515721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A7E2D"/>
                </a:solidFill>
                <a:latin typeface="Aptos"/>
              </a:rPr>
              <a:t>RESOURCE EFFICIENCY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59" y="4389120"/>
            <a:ext cx="515721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A6273"/>
                </a:solidFill>
                <a:latin typeface="Aptos"/>
              </a:rPr>
              <a:t>Core System SW • SVR25B P4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92240" y="4645152"/>
            <a:ext cx="205740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01968" y="4718304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A7E2D"/>
                </a:solidFill>
                <a:latin typeface="Aptos"/>
              </a:rPr>
              <a:t>~3%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5038344"/>
            <a:ext cx="1837943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CPU IMPROVEMENT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69680" y="4645152"/>
            <a:ext cx="205740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79407" y="4718304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A7E2D"/>
                </a:solidFill>
                <a:latin typeface="Aptos"/>
              </a:rPr>
              <a:t>~1%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9407" y="5038344"/>
            <a:ext cx="1837943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A6273"/>
                </a:solidFill>
                <a:latin typeface="Aptos"/>
              </a:rPr>
              <a:t>DRAM IMPROVEMENT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5577840"/>
            <a:ext cx="4434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2330"/>
                </a:solidFill>
                <a:latin typeface="Aptos"/>
              </a:rPr>
              <a:t>Lower platform resource footprint achieved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16382"/>
            <a:ext cx="530352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5A6273"/>
                </a:solidFill>
                <a:latin typeface="Aptos"/>
              </a:rPr>
              <a:t>SYSTEM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466</Words>
  <Application>Microsoft Office PowerPoint</Application>
  <PresentationFormat>Widescreen</PresentationFormat>
  <Paragraphs>134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Vasanth</dc:creator>
  <cp:keywords/>
  <dc:description>generated using python-pptx</dc:description>
  <cp:lastModifiedBy>Vasanth Kanakaraj</cp:lastModifiedBy>
  <cp:revision>7</cp:revision>
  <dcterms:created xsi:type="dcterms:W3CDTF">2013-01-27T09:14:16Z</dcterms:created>
  <dcterms:modified xsi:type="dcterms:W3CDTF">2026-08-14T09:35:52Z</dcterms:modified>
  <cp:category/>
</cp:coreProperties>
</file>